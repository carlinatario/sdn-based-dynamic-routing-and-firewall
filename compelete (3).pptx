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7" r:id="rId5"/>
    <p:sldId id="278" r:id="rId6"/>
    <p:sldId id="260" r:id="rId7"/>
    <p:sldId id="275" r:id="rId8"/>
    <p:sldId id="261" r:id="rId9"/>
    <p:sldId id="262" r:id="rId10"/>
    <p:sldId id="263" r:id="rId11"/>
    <p:sldId id="264" r:id="rId12"/>
    <p:sldId id="274" r:id="rId13"/>
    <p:sldId id="266" r:id="rId14"/>
    <p:sldId id="276" r:id="rId15"/>
    <p:sldId id="267" r:id="rId16"/>
    <p:sldId id="268" r:id="rId17"/>
    <p:sldId id="269" r:id="rId18"/>
    <p:sldId id="270" r:id="rId19"/>
    <p:sldId id="271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DF6CE-B4F0-4168-8C88-C198772BE159}" v="200" dt="2026-08-17T02:02:14.747"/>
    <p1510:client id="{F2CF67E1-BB22-5DF1-C147-F5E0E08DD8B5}" v="666" dt="2026-08-16T16:44:32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7C0CC-08AB-410B-A08E-25D6FB814CA3}" type="datetimeFigureOut"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FC97C-1B7D-479A-9DA3-83512AA9E5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Assalam-o-Alaikum. My name is Muhammad Sami, and with my team members Muhammad Riaz Arham and Hamza Asghar, we will present our final year project, SDN-Based Dynamic Routing and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teammates, then state the project in one sentence. Do not read every word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SDN in one sentence first. Then point to the controller and switch roles. This gives the audience the mental model needed for the rest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the audience here. Ask the question before revealing SDN. Let the supervisor respond briefly, then say: “This is exactly the management problem our project addresses.”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fast. It summarizes the problem immediately before introducing the SDN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three-step workflow. This is the main conceptual bridge from “problem” to “our project.”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table row. Highlight the three strongest differences: centralized decisions, one-point policy control, and controller-based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exact scope from the project documentation: simulation-based multi-campus network using Mininet, Open vSwitch and Ryu.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VLAN names. Give 3–4 examples, then explain that the controller uses the VLAN and IP information to make routing and policy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 once. This is where the project becomes technically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the functions you can demonstrate. The documentation records VLANs, inter-VLAN routing, ACL/firewall, dashboard monitoring, event logging and link failure alerts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strong example to explain the firewall feature. The documentation specifically records VLAN allow/block policy and TCP/UDP port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visual: explain that the dashboard turns controller state into a single management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your documentation says route recalculation is partially completed because it works when an alternate path exists. Do not claim automatic recovery when no alternate path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 sentence.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36422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7875" y="740434"/>
            <a:ext cx="7132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SDN-BASED</a:t>
            </a:r>
            <a:endParaRPr lang="en-US" sz="3100" dirty="0">
              <a:cs typeface="Arial"/>
            </a:endParaRPr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ROUTING</a:t>
            </a:r>
            <a:endParaRPr lang="en-US" sz="3100" dirty="0">
              <a:cs typeface="Arial"/>
            </a:endParaRPr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FIREWALL</a:t>
            </a:r>
            <a:endParaRPr lang="en-US" sz="3100" dirty="0"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Presentation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38516"/>
            <a:ext cx="8880605" cy="175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Group </a:t>
            </a:r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Members</a:t>
            </a:r>
            <a:endParaRPr lang="en-US" b="1" dirty="0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  <a:p>
            <a:endParaRPr lang="en-US" b="1" dirty="0">
              <a:solidFill>
                <a:srgbClr val="FFFFFF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Muhammad Sami                  G1F22UBSCS248</a:t>
            </a:r>
            <a:endParaRPr lang="en-US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Muhammad Riaz Arham       G1F22UBSCS117 </a:t>
            </a:r>
            <a:endParaRPr lang="en-US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Hamza Asghar                       G1F22UBSCS119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 hidden="1"/>
          <p:cNvSpPr/>
          <p:nvPr/>
        </p:nvSpPr>
        <p:spPr>
          <a:xfrm>
            <a:off x="1142024" y="1110220"/>
            <a:ext cx="5444417" cy="191765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Shape 6" hidden="1"/>
          <p:cNvSpPr/>
          <p:nvPr/>
        </p:nvSpPr>
        <p:spPr>
          <a:xfrm>
            <a:off x="3887236" y="1282748"/>
            <a:ext cx="7313474" cy="191765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Shape 10" hidden="1"/>
          <p:cNvSpPr/>
          <p:nvPr/>
        </p:nvSpPr>
        <p:spPr>
          <a:xfrm>
            <a:off x="-110533" y="3163"/>
            <a:ext cx="12403057" cy="6834708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4" hidden="1"/>
          <p:cNvSpPr/>
          <p:nvPr/>
        </p:nvSpPr>
        <p:spPr>
          <a:xfrm>
            <a:off x="4316773" y="597811"/>
            <a:ext cx="2274498" cy="518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17" name="Text 15" hidden="1"/>
          <p:cNvSpPr/>
          <p:nvPr/>
        </p:nvSpPr>
        <p:spPr>
          <a:xfrm>
            <a:off x="247981" y="207195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simulated multi-campus university network that uses SDN to centralize routing, security policy, and monitoring.</a:t>
            </a:r>
            <a:endParaRPr lang="en-US" sz="2400" dirty="0"/>
          </a:p>
        </p:txBody>
      </p:sp>
      <p:sp>
        <p:nvSpPr>
          <p:cNvPr id="18" name="Shape 16" hidden="1"/>
          <p:cNvSpPr/>
          <p:nvPr/>
        </p:nvSpPr>
        <p:spPr>
          <a:xfrm>
            <a:off x="491706" y="3737826"/>
            <a:ext cx="2179320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9" name="Text 17" hidden="1"/>
          <p:cNvSpPr/>
          <p:nvPr/>
        </p:nvSpPr>
        <p:spPr>
          <a:xfrm>
            <a:off x="534838" y="3735180"/>
            <a:ext cx="2107433" cy="11252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0" name="Shape 18" hidden="1"/>
          <p:cNvSpPr/>
          <p:nvPr/>
        </p:nvSpPr>
        <p:spPr>
          <a:xfrm>
            <a:off x="3257622" y="3737826"/>
            <a:ext cx="1763527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1" name="Text 19" hidden="1"/>
          <p:cNvSpPr/>
          <p:nvPr/>
        </p:nvSpPr>
        <p:spPr>
          <a:xfrm>
            <a:off x="3113849" y="3577030"/>
            <a:ext cx="2036696" cy="168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2" name="Shape 20" hidden="1"/>
          <p:cNvSpPr/>
          <p:nvPr/>
        </p:nvSpPr>
        <p:spPr>
          <a:xfrm>
            <a:off x="5380296" y="3737826"/>
            <a:ext cx="1889184" cy="1123850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3" name="Text 21" hidden="1"/>
          <p:cNvSpPr/>
          <p:nvPr/>
        </p:nvSpPr>
        <p:spPr>
          <a:xfrm>
            <a:off x="5380295" y="3778312"/>
            <a:ext cx="1817298" cy="1297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24" name="Shape 22" hidden="1"/>
          <p:cNvSpPr/>
          <p:nvPr/>
        </p:nvSpPr>
        <p:spPr>
          <a:xfrm>
            <a:off x="7726680" y="3737826"/>
            <a:ext cx="2057400" cy="1123849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5" name="Text 23" hidden="1"/>
          <p:cNvSpPr/>
          <p:nvPr/>
        </p:nvSpPr>
        <p:spPr>
          <a:xfrm>
            <a:off x="7726680" y="3505143"/>
            <a:ext cx="2057400" cy="184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7324D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F966-4176-8294-0FA9-A8B43508D547}"/>
              </a:ext>
            </a:extLst>
          </p:cNvPr>
          <p:cNvSpPr txBox="1"/>
          <p:nvPr/>
        </p:nvSpPr>
        <p:spPr>
          <a:xfrm>
            <a:off x="481641" y="347869"/>
            <a:ext cx="11202461" cy="63094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Research-Based Project</a:t>
            </a:r>
            <a:endParaRPr lang="en-US" sz="2800" b="1">
              <a:cs typeface="Arial"/>
            </a:endParaRPr>
          </a:p>
          <a:p>
            <a:r>
              <a:rPr lang="en-US" sz="2800" b="1">
                <a:ea typeface="+mn-lt"/>
                <a:cs typeface="+mn-lt"/>
              </a:rPr>
              <a:t>SDN-Based Dynamic Routing and Firewall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Investigated the use of Software Defined Networking (SDN).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Compare traditional network management with centralized SDN control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Study dynamic routing, VLAN segmentation, and security policy management</a:t>
            </a:r>
            <a:endParaRPr lang="en-US" sz="240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Evaluate the approach through a simulated multi-campus university network</a:t>
            </a:r>
          </a:p>
          <a:p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  <a:p>
            <a:r>
              <a:rPr lang="en-US" sz="2800">
                <a:ea typeface="+mn-lt"/>
                <a:cs typeface="+mn-lt"/>
              </a:rPr>
              <a:t>I</a:t>
            </a:r>
            <a:r>
              <a:rPr lang="en-US" sz="2800" b="1">
                <a:ea typeface="+mn-lt"/>
                <a:cs typeface="+mn-lt"/>
              </a:rPr>
              <a:t>mplementation &amp; Evaluation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Mininet — Network Simulation</a:t>
            </a:r>
            <a:endParaRPr lang="en-US">
              <a:cs typeface="Arial"/>
            </a:endParaRPr>
          </a:p>
          <a:p>
            <a:r>
              <a:rPr lang="en-US" sz="2400" dirty="0">
                <a:ea typeface="+mn-lt"/>
                <a:cs typeface="+mn-lt"/>
              </a:rPr>
              <a:t>Open </a:t>
            </a:r>
            <a:r>
              <a:rPr lang="en-US" sz="2400" dirty="0" err="1">
                <a:ea typeface="+mn-lt"/>
                <a:cs typeface="+mn-lt"/>
              </a:rPr>
              <a:t>vSwitch</a:t>
            </a:r>
            <a:r>
              <a:rPr lang="en-US" sz="2400" dirty="0">
                <a:ea typeface="+mn-lt"/>
                <a:cs typeface="+mn-lt"/>
              </a:rPr>
              <a:t> — SDN Switches</a:t>
            </a:r>
            <a:endParaRPr lang="en-US" dirty="0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OpenFlow Protocol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Ryu — Centralized SDN Controller</a:t>
            </a:r>
            <a:endParaRPr lang="en-US">
              <a:cs typeface="Arial"/>
            </a:endParaRPr>
          </a:p>
          <a:p>
            <a:r>
              <a:rPr lang="en-US" sz="2400">
                <a:ea typeface="+mn-lt"/>
                <a:cs typeface="+mn-lt"/>
              </a:rPr>
              <a:t>Dashboard — Network Monitoring &amp; Policy Management</a:t>
            </a:r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Software Defined Networking (SDN)?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011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20116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03320" y="14173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490472"/>
            <a:ext cx="24231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Controller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490472"/>
            <a:ext cx="24231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Switches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901952"/>
            <a:ext cx="96012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44768" y="1901952"/>
            <a:ext cx="1124712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57600" y="2487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DECISION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487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FORWARDING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0632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729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network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502152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switch / router contains its own control logic.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is configured device by device.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99632" y="30632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1729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network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4224" y="3502152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 makes the network-wide decision.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execute the rules installed by the controller.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743200" y="5779008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controller decides. The switches forward.”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5FD292-2CFF-0827-1E29-7D7A64C6CCE7}"/>
              </a:ext>
            </a:extLst>
          </p:cNvPr>
          <p:cNvSpPr txBox="1"/>
          <p:nvPr/>
        </p:nvSpPr>
        <p:spPr>
          <a:xfrm>
            <a:off x="1092681" y="984851"/>
            <a:ext cx="983411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Real-World SDN Deployments</a:t>
            </a:r>
            <a:endParaRPr lang="en-US" sz="2800" b="1">
              <a:cs typeface="Arial"/>
            </a:endParaRPr>
          </a:p>
          <a:p>
            <a:endParaRPr lang="en-US" sz="2800" b="1" dirty="0"/>
          </a:p>
          <a:p>
            <a:pPr marL="285750" indent="-285750">
              <a:buFont typeface="Arial"/>
              <a:buChar char="•"/>
            </a:pPr>
            <a:r>
              <a:rPr lang="en-US" sz="2000"/>
              <a:t>Stanford University — CIS Building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Internet2 / university research networks</a:t>
            </a:r>
            <a:endParaRPr lang="en-US" sz="20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/>
              <a:t> Other research and campus network environments</a:t>
            </a:r>
            <a:endParaRPr lang="en-US" sz="2000">
              <a:cs typeface="Arial"/>
            </a:endParaRPr>
          </a:p>
          <a:p>
            <a:endParaRPr lang="en-US" dirty="0"/>
          </a:p>
          <a:p>
            <a:r>
              <a:rPr lang="en-US" sz="2800" b="1"/>
              <a:t>Deployment Scale </a:t>
            </a:r>
            <a:endParaRPr lang="en-US" sz="2800" b="1">
              <a:cs typeface="Arial"/>
            </a:endParaRPr>
          </a:p>
          <a:p>
            <a:endParaRPr lang="en-US" sz="2800" b="1" dirty="0"/>
          </a:p>
          <a:p>
            <a:pPr marL="342900" indent="-342900">
              <a:buFont typeface="Arial"/>
              <a:buChar char="•"/>
            </a:pPr>
            <a:r>
              <a:rPr lang="en-US" sz="2000"/>
              <a:t>6 production OpenFlow switches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SDN controller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30 OpenFlow-capable Wi-Fi access points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 Physical production network</a:t>
            </a:r>
            <a:endParaRPr lang="en-US" sz="2000">
              <a:cs typeface="Arial"/>
            </a:endParaRPr>
          </a:p>
          <a:p>
            <a:pPr algn="ctr"/>
            <a:endParaRPr lang="en-US"/>
          </a:p>
          <a:p>
            <a:pPr algn="ctr"/>
            <a:r>
              <a:rPr lang="en-US">
                <a:ea typeface="+mn-lt"/>
                <a:cs typeface="+mn-lt"/>
              </a:rPr>
              <a:t>Source: Kobayashi et al., Maturing of OpenFlow and Software-defined Networking through deployments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3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CE8F80-AF93-DBD1-E59C-482827C80CAB}"/>
              </a:ext>
            </a:extLst>
          </p:cNvPr>
          <p:cNvSpPr txBox="1"/>
          <p:nvPr/>
        </p:nvSpPr>
        <p:spPr>
          <a:xfrm>
            <a:off x="933060" y="559837"/>
            <a:ext cx="943946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Benefits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Centralized Management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Faster </a:t>
            </a:r>
            <a:r>
              <a:rPr lang="en-US" sz="2000">
                <a:ea typeface="+mn-lt"/>
                <a:cs typeface="+mn-lt"/>
              </a:rPr>
              <a:t>Configuration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Multi-Vendor Support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Programmability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Better Visibility 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Network Virtualization </a:t>
            </a:r>
            <a:endParaRPr lang="en-US" sz="2000"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DD7E5-7040-8F56-28DD-9A0C9F8F2E78}"/>
              </a:ext>
            </a:extLst>
          </p:cNvPr>
          <p:cNvSpPr txBox="1"/>
          <p:nvPr/>
        </p:nvSpPr>
        <p:spPr>
          <a:xfrm>
            <a:off x="798676" y="3866041"/>
            <a:ext cx="9563877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Limitations / Challenges</a:t>
            </a:r>
            <a:endParaRPr lang="en-US" sz="2800" b="1">
              <a:cs typeface="Arial"/>
            </a:endParaRPr>
          </a:p>
          <a:p>
            <a:endParaRPr lang="en-US" sz="2800" b="1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Switch CPU and flow-table limitations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Legacy network integration issues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STP and OpenFlow interaction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Production stability and reliability challenges</a:t>
            </a:r>
            <a:endParaRPr lang="en-US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Extensive testing and debugging required</a:t>
            </a:r>
            <a:endParaRPr lang="en-US" sz="2000"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284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 hidden="1"/>
          <p:cNvSpPr/>
          <p:nvPr/>
        </p:nvSpPr>
        <p:spPr>
          <a:xfrm>
            <a:off x="685800" y="13716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5F5"/>
          </a:solidFill>
          <a:ln w="12700">
            <a:solidFill>
              <a:srgbClr val="E6B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461" y="1368897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Student WiFi must be blocked from reaching an Administration server. The policy must be enforced across the campus path—not only at one user PC.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— Distributed control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611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The administrator works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across separate switches, routers and security devices.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— Policy complexity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515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 small access-policy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change can require multiple device updates and verification.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0" y="292608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 — Visibility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94192" y="3364992"/>
            <a:ext cx="297180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dirty="0">
              <a:solidFill>
                <a:srgbClr val="1E2A3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Failures and traffic behavior </a:t>
            </a:r>
            <a:r>
              <a:rPr lang="en-US" dirty="0">
                <a:solidFill>
                  <a:srgbClr val="1E2A35"/>
                </a:solidFill>
                <a:latin typeface="Arial"/>
                <a:ea typeface="Arial" pitchFamily="34" charset="-122"/>
                <a:cs typeface="Arial"/>
              </a:rPr>
              <a:t>are harder to view from one place.</a:t>
            </a: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B4C5CE-5215-11E2-ABC8-F4B325B8D94A}"/>
              </a:ext>
            </a:extLst>
          </p:cNvPr>
          <p:cNvSpPr txBox="1"/>
          <p:nvPr/>
        </p:nvSpPr>
        <p:spPr>
          <a:xfrm>
            <a:off x="2027208" y="2868283"/>
            <a:ext cx="783565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Muhammad</a:t>
            </a:r>
            <a:r>
              <a:rPr lang="en-US" sz="2800" b="1">
                <a:solidFill>
                  <a:srgbClr val="002060"/>
                </a:solidFill>
                <a:latin typeface="Arial"/>
              </a:rPr>
              <a:t> Riaz Arham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       G1F22UBSCS117 </a:t>
            </a:r>
            <a:endParaRPr lang="en-US" sz="2800">
              <a:solidFill>
                <a:srgbClr val="002060"/>
              </a:solidFill>
              <a:cs typeface="Arial"/>
            </a:endParaRPr>
          </a:p>
          <a:p>
            <a:pPr algn="ctr"/>
            <a:endParaRPr lang="en-US" sz="2800" dirty="0">
              <a:solidFill>
                <a:srgbClr val="00206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266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Problems Does the Traditional Model Create?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configuration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are changed device by device.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devices mean more opportunities for mismatch or human error.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policy changes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or routing changes take more steps to apply and verify.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central visibility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00032" y="1901952"/>
            <a:ext cx="233172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Topology, traffic, logs and failures are not naturally managed from one control point.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changes with SDN?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46177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network-wide decision logic into a controller and let the switches execute the resulting flow rules.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Same University Network Works with SDN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240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2240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/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94760" y="1234440"/>
            <a:ext cx="2651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307592"/>
            <a:ext cx="2651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 SDN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0" y="1234440"/>
            <a:ext cx="2514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307592"/>
            <a:ext cx="251460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63240" y="1719072"/>
            <a:ext cx="667512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1719072"/>
            <a:ext cx="96012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 / learn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32520" y="2697480"/>
            <a:ext cx="0" cy="45720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154680"/>
            <a:ext cx="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7686" y="3231743"/>
            <a:ext cx="3246120" cy="2210374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Student → Server</a:t>
            </a:r>
          </a:p>
        </p:txBody>
      </p:sp>
      <p:sp>
        <p:nvSpPr>
          <p:cNvPr id="20" name="Text 18"/>
          <p:cNvSpPr/>
          <p:nvPr/>
        </p:nvSpPr>
        <p:spPr>
          <a:xfrm>
            <a:off x="850392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checks VLANs + ACL policy.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allowed, it calculates the path.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blocked, it installs a drop rule.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462272" y="32461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logic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6864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hosts, maintains topology, checks policies, selects a route, and installs OpenFlow rules.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229600" y="32461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behavior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94192" y="368503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 forwards packets using the rules already installed by the controller.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03120" y="5532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network decisions become centralized and programmable.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Network vs SDN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7899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177" y="1325879"/>
            <a:ext cx="10789920" cy="47934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63240" y="14813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20840" y="1481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324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across network devices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2084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in SDN controller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8680" y="3044952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420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change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63240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devices individually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20840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policy at one control point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68680" y="3666744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63240" y="31638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on routers / L3 devices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20840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calculates forwarding path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68680" y="4288536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856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63240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spread across devices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2084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policy / ACL / firewall logic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68680" y="4910328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07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3240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Tool-dependent and distributed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20840" y="44074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controller state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68680" y="5532120"/>
            <a:ext cx="10332720" cy="0"/>
          </a:xfrm>
          <a:prstGeom prst="line">
            <a:avLst/>
          </a:prstGeom>
          <a:noFill/>
          <a:ln w="12700">
            <a:solidFill>
              <a:srgbClr val="E6EB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9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response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63240" y="5029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configured device behavior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20840" y="5029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can detect topology change and react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SDN-Based Dynamic Routing and Firewall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B6876"/>
                </a:solidFill>
                <a:latin typeface="Arial"/>
                <a:ea typeface="Arial" pitchFamily="34" charset="-122"/>
                <a:cs typeface="Arial"/>
              </a:rPr>
              <a:t>A simulated multi-campus university network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90472"/>
            <a:ext cx="23317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Mininet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vSwitch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98280" y="141732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490472"/>
            <a:ext cx="23774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63240" y="1828800"/>
            <a:ext cx="3200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1828800"/>
            <a:ext cx="320040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32520" y="1828800"/>
            <a:ext cx="32004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model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00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Campuses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68880" y="32461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300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Switches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23360" y="32461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300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Hosts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577840" y="32461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300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VLANs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Campus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61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+ Admin + Academic + Lab + Library / DC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Campus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37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+ City Admin / Lab + Student WiFi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046720" y="41605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Security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11312" y="4599432"/>
            <a:ext cx="30175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+ ACL/firewall + monitoring + alerts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5CF5CE-DCBA-9D1B-26B7-EE877E6FD856}"/>
              </a:ext>
            </a:extLst>
          </p:cNvPr>
          <p:cNvSpPr txBox="1"/>
          <p:nvPr/>
        </p:nvSpPr>
        <p:spPr>
          <a:xfrm>
            <a:off x="2722947" y="203157"/>
            <a:ext cx="1048578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17324D"/>
                </a:solidFill>
                <a:cs typeface="Arial"/>
              </a:rPr>
              <a:t>Our University SDN Topology</a:t>
            </a:r>
            <a:endParaRPr lang="en-US" sz="2800"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0F504A-096E-9A59-6573-A8187194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3" y="747622"/>
            <a:ext cx="7773602" cy="61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1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Separate the University Network: VLANs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10.0.10.0/24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987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&amp; Staff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10.0.20.0/24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Labs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10.0.30.0/24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14173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60020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64592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WiFi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10.0.40.0/24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&amp; Servers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10.0.50.0/24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Admin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10.0.60.0/24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Labs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10.0.70.0/24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28346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8592" y="3017520"/>
            <a:ext cx="438912" cy="438912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08592" y="3063240"/>
            <a:ext cx="43891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87552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Student WiFi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87552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10.0.80.0/24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VLANs?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899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broadcast domains and apply different access policies.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52628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IP subnets?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69087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 can identify source and destination networks.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138160" y="452628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02752" y="4636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policies?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02752" y="4965192"/>
            <a:ext cx="2697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department should automatically reach every other department.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E69B-7BD9-6B0C-EAF0-341159FE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3B3B32-675A-2B8D-0B3F-9EDDA757E46B}"/>
              </a:ext>
            </a:extLst>
          </p:cNvPr>
          <p:cNvSpPr txBox="1"/>
          <p:nvPr/>
        </p:nvSpPr>
        <p:spPr>
          <a:xfrm>
            <a:off x="2027208" y="2868283"/>
            <a:ext cx="78356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Arial"/>
              </a:rPr>
              <a:t>Hamza Asghar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       </a:t>
            </a:r>
            <a:r>
              <a:rPr lang="en-US" sz="2800" b="1">
                <a:solidFill>
                  <a:srgbClr val="002060"/>
                </a:solidFill>
                <a:latin typeface="Arial"/>
              </a:rPr>
              <a:t>             </a:t>
            </a:r>
            <a:r>
              <a:rPr lang="en-US" sz="2800" b="1" i="0" u="none" strike="noStrike" baseline="0">
                <a:solidFill>
                  <a:srgbClr val="002060"/>
                </a:solidFill>
                <a:latin typeface="Arial"/>
              </a:rPr>
              <a:t>G1F22UBSCS117</a:t>
            </a:r>
            <a:r>
              <a:rPr lang="en-US" sz="2800" b="1" i="0" u="none" strike="noStrike" baseline="0" dirty="0">
                <a:solidFill>
                  <a:srgbClr val="002060"/>
                </a:solidFill>
                <a:latin typeface="Arial"/>
              </a:rPr>
              <a:t> </a:t>
            </a:r>
            <a:endParaRPr lang="en-US" sz="2800" dirty="0">
              <a:solidFill>
                <a:srgbClr val="002060"/>
              </a:solidFill>
              <a:cs typeface="Arial"/>
            </a:endParaRPr>
          </a:p>
          <a:p>
            <a:pPr algn="ctr"/>
            <a:endParaRPr lang="en-US" sz="2800" dirty="0">
              <a:solidFill>
                <a:srgbClr val="00206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4440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Packet Arrives?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workflow used in our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packet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7592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sends packet information to controller when a decision is needed.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5192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9784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source host, input switch/port and VLAN.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7304" y="13716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14173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87384" y="13258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1976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policy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1976" y="17647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inter-VLAN traffic, consult the ACL / firewall rules.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C987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7592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route through the topology graph.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25112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65192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rules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9784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OpenFlow rules to switches along the selected path.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47304" y="3429000"/>
            <a:ext cx="475488" cy="475488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47304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787384" y="33832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1976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/ drop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51976" y="3822192"/>
            <a:ext cx="25603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traffic is forwarded; blocked traffic is dropped and logged.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57150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“dynamic” part of our project: the route and policy decision are made from current network state and rules.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Functionalities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segmentation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departments and user groups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Inter-VLAN routing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traffic between VLANs when policy permits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/ firewall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or block VLAN pairs and TCP/UDP ports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98280" y="135331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179222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 path from the topology graph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monitoring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switches, VLANs, statistics and policies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logging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9359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forwarding, dropping and policy events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6364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failure alerts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823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failed links and notify the administrator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98280" y="327355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policy changes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62872" y="3712464"/>
            <a:ext cx="22860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security rules without editing controller code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71600" y="539496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documentation marks these core modules as completed and tested in the Mininet simulation environment.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/>
                <a:ea typeface="Arial" pitchFamily="34" charset="-122"/>
                <a:cs typeface="Arial"/>
              </a:rPr>
              <a:t> Example: ACL + Firewall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7830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WiFi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21488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581912"/>
            <a:ext cx="214884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 Controller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150876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42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581912"/>
            <a:ext cx="20116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10058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1874520"/>
            <a:ext cx="960120" cy="0"/>
          </a:xfrm>
          <a:prstGeom prst="line">
            <a:avLst/>
          </a:prstGeom>
          <a:noFill/>
          <a:ln w="12700">
            <a:solidFill>
              <a:srgbClr val="1B8A8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4612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decision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26080" y="292608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FF5F5"/>
          </a:solidFill>
          <a:ln w="12700">
            <a:solidFill>
              <a:srgbClr val="E6B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3182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VLAN 40 → VLAN 10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69280" y="3886200"/>
            <a:ext cx="0" cy="68580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45262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traffic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965192"/>
            <a:ext cx="3931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is dropped according to policy.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45262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event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3992" y="4965192"/>
            <a:ext cx="3931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event can be shown in the dashboard / logs.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5760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also supports TCP/UDP port blocking through firewall rules.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Dashboard: One Place to See and Manage the Network</a:t>
            </a:r>
            <a:endParaRPr lang="en-US" sz="2800" dirty="0"/>
          </a:p>
        </p:txBody>
      </p:sp>
      <p:sp>
        <p:nvSpPr>
          <p:cNvPr id="4" name="Shape 2" hidden="1"/>
          <p:cNvSpPr/>
          <p:nvPr/>
        </p:nvSpPr>
        <p:spPr>
          <a:xfrm>
            <a:off x="522474" y="1325880"/>
            <a:ext cx="11044686" cy="5173261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5" name="Shape 3" hidden="1"/>
          <p:cNvSpPr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Shape 5" hidden="1"/>
          <p:cNvSpPr/>
          <p:nvPr/>
        </p:nvSpPr>
        <p:spPr>
          <a:xfrm>
            <a:off x="91440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Shape 8" hidden="1"/>
          <p:cNvSpPr/>
          <p:nvPr/>
        </p:nvSpPr>
        <p:spPr>
          <a:xfrm>
            <a:off x="347472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Shape 11" hidden="1"/>
          <p:cNvSpPr/>
          <p:nvPr/>
        </p:nvSpPr>
        <p:spPr>
          <a:xfrm>
            <a:off x="603504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6" name="Shape 14" hidden="1"/>
          <p:cNvSpPr/>
          <p:nvPr/>
        </p:nvSpPr>
        <p:spPr>
          <a:xfrm>
            <a:off x="8595360" y="205740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9" name="Shape 17" hidden="1"/>
          <p:cNvSpPr/>
          <p:nvPr/>
        </p:nvSpPr>
        <p:spPr>
          <a:xfrm>
            <a:off x="914400" y="3337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3" name="Shape 21" hidden="1"/>
          <p:cNvSpPr/>
          <p:nvPr/>
        </p:nvSpPr>
        <p:spPr>
          <a:xfrm>
            <a:off x="360872" y="1152202"/>
            <a:ext cx="7137208" cy="30997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7" name="Shape 25" hidden="1"/>
          <p:cNvSpPr/>
          <p:nvPr/>
        </p:nvSpPr>
        <p:spPr>
          <a:xfrm>
            <a:off x="7772400" y="3337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1" name="Shape 29" hidden="1"/>
          <p:cNvSpPr/>
          <p:nvPr/>
        </p:nvSpPr>
        <p:spPr>
          <a:xfrm>
            <a:off x="914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5" name="Shape 33" hidden="1"/>
          <p:cNvSpPr/>
          <p:nvPr/>
        </p:nvSpPr>
        <p:spPr>
          <a:xfrm>
            <a:off x="4343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9" name="Shape 37" hidden="1"/>
          <p:cNvSpPr/>
          <p:nvPr/>
        </p:nvSpPr>
        <p:spPr>
          <a:xfrm>
            <a:off x="7772400" y="44805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5CDAA36-D534-4005-4752-EB01B424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8" y="1197993"/>
            <a:ext cx="12144375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Failure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418320" y="182880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1901952"/>
            <a:ext cx="173736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6032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176272"/>
            <a:ext cx="1051560" cy="0"/>
          </a:xfrm>
          <a:prstGeom prst="line">
            <a:avLst/>
          </a:prstGeom>
          <a:noFill/>
          <a:ln w="12700">
            <a:solidFill>
              <a:srgbClr val="5B687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675888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7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DOWN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06240" y="3154680"/>
            <a:ext cx="1920240" cy="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154680"/>
            <a:ext cx="1234440" cy="0"/>
          </a:xfrm>
          <a:prstGeom prst="line">
            <a:avLst/>
          </a:prstGeom>
          <a:noFill/>
          <a:ln w="12700">
            <a:solidFill>
              <a:srgbClr val="C7424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receives the topology-change event.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2628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Update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link is removed from the topology graph.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38160" y="384048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3950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Recalculate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2752" y="4279392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traffic can use an alternate route when one exists.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documented result: link failure alerts are generated; route recalculation is supported when an alternate path exists.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Works, but control is distributed across devices and policy changes are more manual.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Centralizes network decisions, policy logic, topology awareness and management.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527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7032" y="1856232"/>
            <a:ext cx="306324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routing, VLANs, ACL/firewall, monitoring, logging and link alerts.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343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does not replace the network.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changes where the network intelligence lives.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Central Punjab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SDN-Based Dynamic Routing and Firewall</dc:title>
  <dc:subject>SDN Based Dynamic Routing and Firewall</dc:subject>
  <dc:creator>Muhammad Sami / Team G1F22FYPCS046</dc:creator>
  <cp:lastModifiedBy>Muhammad Sami / Team G1F22FYPCS046</cp:lastModifiedBy>
  <cp:revision>311</cp:revision>
  <dcterms:created xsi:type="dcterms:W3CDTF">2026-08-16T13:37:13Z</dcterms:created>
  <dcterms:modified xsi:type="dcterms:W3CDTF">2026-08-17T02:03:49Z</dcterms:modified>
</cp:coreProperties>
</file>